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bubble3D val="0"/>
            <c:spPr>
              <a:solidFill>
                <a:srgbClr val="F0AD4E"/>
              </a:solidFill>
              <a:effectLst/>
            </c:spPr>
          </c:dPt>
          <c:dPt>
            <c:idx val="2"/>
            <c:bubble3D val="0"/>
            <c:spPr>
              <a:solidFill>
                <a:srgbClr val="4FA58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Worsened</c:v>
                </c:pt>
                <c:pt idx="1">
                  <c:v>Stayed the same</c:v>
                </c:pt>
                <c:pt idx="2">
                  <c:v>Improved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52.6</c:v>
                </c:pt>
                <c:pt idx="1">
                  <c:v>26.9</c:v>
                </c:pt>
                <c:pt idx="2">
                  <c:v>20.5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2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F1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Ensemble</c:v>
                  </c:pt>
                  <c:pt idx="2">
                    <c:v>Random Forest</c:v>
                  </c:pt>
                  <c:pt idx="3">
                    <c:v>Logistic Regression</c:v>
                  </c:pt>
                  <c:pt idx="4">
                    <c:v>Decision Tree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0.535</c:v>
                </c:pt>
                <c:pt idx="1">
                  <c:v>0.5305</c:v>
                </c:pt>
                <c:pt idx="2">
                  <c:v>0.5172</c:v>
                </c:pt>
                <c:pt idx="3">
                  <c:v>0.5101</c:v>
                </c:pt>
                <c:pt idx="4">
                  <c:v>0.5071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Target: 0.85</c:v>
                </c:pt>
              </c:strCache>
            </c:strRef>
          </c:tx>
          <c:spPr>
            <a:solidFill>
              <a:srgbClr val="D9534F"/>
            </a:solidFill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Ensemble</c:v>
                  </c:pt>
                  <c:pt idx="2">
                    <c:v>Random Forest</c:v>
                  </c:pt>
                  <c:pt idx="3">
                    <c:v>Logistic Regression</c:v>
                  </c:pt>
                  <c:pt idx="4">
                    <c:v>Decision Tree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0.85</c:v>
                </c:pt>
                <c:pt idx="1">
                  <c:v>0.85</c:v>
                </c:pt>
                <c:pt idx="2">
                  <c:v>0.85</c:v>
                </c:pt>
                <c:pt idx="3">
                  <c:v>0.85</c:v>
                </c:pt>
                <c:pt idx="4">
                  <c:v>0.85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2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location_type</c:v>
                  </c:pt>
                  <c:pt idx="1">
                    <c:v>access to KES 13k</c:v>
                  </c:pt>
                  <c:pt idx="2">
                    <c:v>experienced_shock</c:v>
                  </c:pt>
                  <c:pt idx="3">
                    <c:v>fl_score (literacy)</c:v>
                  </c:pt>
                  <c:pt idx="4">
                    <c:v>Age</c:v>
                  </c:pt>
                  <c:pt idx="5">
                    <c:v>income_band</c:v>
                  </c:pt>
                  <c:pt idx="6">
                    <c:v>vulnerability_index</c:v>
                  </c:pt>
                  <c:pt idx="7">
                    <c:v>high_risk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0.0304</c:v>
                </c:pt>
                <c:pt idx="1">
                  <c:v>0.0319</c:v>
                </c:pt>
                <c:pt idx="2">
                  <c:v>0.0379</c:v>
                </c:pt>
                <c:pt idx="3">
                  <c:v>0.0474</c:v>
                </c:pt>
                <c:pt idx="4">
                  <c:v>0.0482</c:v>
                </c:pt>
                <c:pt idx="5">
                  <c:v>0.0517</c:v>
                </c:pt>
                <c:pt idx="6">
                  <c:v>0.0558</c:v>
                </c:pt>
                <c:pt idx="7">
                  <c:v>0.0764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669280" cy="566928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241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2026  ·  STRATHMORE DATA COMMUNITY × ILAB AFRICA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1024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 FinAccess Financial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 Challenge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 Kenyan adult's financial situation improved, stayed the same, or worsened — using survey data from 20,871 respondents.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897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spc="100" kern="0" dirty="0">
                <a:solidFill>
                  <a:srgbClr val="7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Amigos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0480" y="5897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spc="100" kern="0" dirty="0">
                <a:solidFill>
                  <a:srgbClr val="7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
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5897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spc="100" kern="0" dirty="0">
                <a:solidFill>
                  <a:srgbClr val="7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
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Score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Financial Decline Among 20,871 Kenyan Adults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survey respondent is classified into one of three financial outcomes based on the past year. Our task is a three-class prediction problem built on 28 raw variables covering income, location, shocks, food security, and financial behaviour.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07238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20,871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adults surveyed nationwide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8496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703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variables collected per respondent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4480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62686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4805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· Stayed the Same · Worsened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126480" y="150876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14300" dist="38100" dir="5400000">
              <a:srgbClr val="1B2B3A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355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Financial Status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355080" y="21031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 11"/>
          <p:cNvSpPr/>
          <p:nvPr/>
        </p:nvSpPr>
        <p:spPr>
          <a:xfrm>
            <a:off x="635508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respondents report worsened finances — a significant class imbalance the model must account for.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2026  ·  Kenya FinAccess Financial Inclusion Challenge  ·  Team Tres Amigos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Financial Decline? Four 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14300" dist="38100" dir="5400000">
              <a:srgbClr val="1B2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59.6% vs 47.3%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Worsened-finance rate for people who experienced a financial shock vs. those who didn't.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14300" dist="38100" dir="5400000">
              <a:srgbClr val="1B2B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1892808"/>
            <a:ext cx="658368" cy="65836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574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62.8% vs 43.0%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510528" y="265176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Worsened-finance rate for food-insecure vs. food-secure respondents.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14300" dist="38100" dir="5400000">
              <a:srgbClr val="1B2B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616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262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251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7,000 vs 5,000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1248" y="512064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monthly income: the Improved group earns roughly 40% more than the Worsened group.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14300" dist="38100" dir="5400000">
              <a:srgbClr val="1B2B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361688"/>
            <a:ext cx="658368" cy="65836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262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53.6% vs 50.8%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6510528" y="512064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Worsened-finance rate for rural vs. urban residents — a modest but consistent gap.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2026  ·  Kenya FinAccess Financial Inclusion Challenge  ·  Team Tres Amigos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Survey Data to a Trained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23467" y="2103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923" y="232257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36392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502152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missing values &amp; inconsistent text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74366" y="2446020"/>
            <a:ext cx="457200" cy="182880"/>
          </a:xfrm>
          <a:prstGeom prst="rightArrow">
            <a:avLst/>
          </a:prstGeom>
          <a:solidFill>
            <a:srgbClr val="C9D6E2"/>
          </a:solidFill>
          <a:ln/>
        </p:spPr>
      </p:sp>
      <p:sp>
        <p:nvSpPr>
          <p:cNvPr id="9" name="Shape 6"/>
          <p:cNvSpPr/>
          <p:nvPr/>
        </p:nvSpPr>
        <p:spPr>
          <a:xfrm>
            <a:off x="3441802" y="2103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58" y="2322576"/>
            <a:ext cx="429768" cy="429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66974" y="3136392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58414" y="3502152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 features from raw columns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92701" y="2446020"/>
            <a:ext cx="457200" cy="182880"/>
          </a:xfrm>
          <a:prstGeom prst="rightArrow">
            <a:avLst/>
          </a:prstGeom>
          <a:solidFill>
            <a:srgbClr val="C9D6E2"/>
          </a:solidFill>
          <a:ln/>
        </p:spPr>
      </p:sp>
      <p:sp>
        <p:nvSpPr>
          <p:cNvPr id="14" name="Shape 10"/>
          <p:cNvSpPr/>
          <p:nvPr/>
        </p:nvSpPr>
        <p:spPr>
          <a:xfrm>
            <a:off x="5660136" y="2103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322576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85309" y="3136392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 Balance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76749" y="3502152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 fixes class imbalance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911035" y="2446020"/>
            <a:ext cx="457200" cy="182880"/>
          </a:xfrm>
          <a:prstGeom prst="rightArrow">
            <a:avLst/>
          </a:prstGeom>
          <a:solidFill>
            <a:srgbClr val="C9D6E2"/>
          </a:solidFill>
          <a:ln/>
        </p:spPr>
      </p:sp>
      <p:sp>
        <p:nvSpPr>
          <p:cNvPr id="19" name="Shape 14"/>
          <p:cNvSpPr/>
          <p:nvPr/>
        </p:nvSpPr>
        <p:spPr>
          <a:xfrm>
            <a:off x="7878470" y="2103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926" y="2322576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03643" y="3136392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Models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295083" y="3502152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→ Ensemble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129370" y="2446020"/>
            <a:ext cx="457200" cy="182880"/>
          </a:xfrm>
          <a:prstGeom prst="rightArrow">
            <a:avLst/>
          </a:prstGeom>
          <a:solidFill>
            <a:srgbClr val="C9D6E2"/>
          </a:solidFill>
          <a:ln/>
        </p:spPr>
      </p:sp>
      <p:sp>
        <p:nvSpPr>
          <p:cNvPr id="24" name="Shape 18"/>
          <p:cNvSpPr/>
          <p:nvPr/>
        </p:nvSpPr>
        <p:spPr>
          <a:xfrm>
            <a:off x="10096805" y="210312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261" y="2322576"/>
            <a:ext cx="429768" cy="4297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21978" y="3136392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513418" y="3502152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Weighted F1 on test set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Trained &amp; Compared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4846320"/>
            <a:ext cx="1449324" cy="457200"/>
          </a:xfrm>
          <a:prstGeom prst="roundRect">
            <a:avLst>
              <a:gd name="adj" fmla="val 50000"/>
            </a:avLst>
          </a:prstGeom>
          <a:solidFill>
            <a:srgbClr val="F2F6FA"/>
          </a:solidFill>
          <a:ln/>
        </p:spPr>
      </p:sp>
      <p:sp>
        <p:nvSpPr>
          <p:cNvPr id="30" name="Text 23"/>
          <p:cNvSpPr/>
          <p:nvPr/>
        </p:nvSpPr>
        <p:spPr>
          <a:xfrm>
            <a:off x="548640" y="4846320"/>
            <a:ext cx="1449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2199132" y="4846320"/>
            <a:ext cx="1970532" cy="457200"/>
          </a:xfrm>
          <a:prstGeom prst="roundRect">
            <a:avLst>
              <a:gd name="adj" fmla="val 50000"/>
            </a:avLst>
          </a:prstGeom>
          <a:solidFill>
            <a:srgbClr val="F2F6FA"/>
          </a:solidFill>
          <a:ln/>
        </p:spPr>
      </p:sp>
      <p:sp>
        <p:nvSpPr>
          <p:cNvPr id="32" name="Text 25"/>
          <p:cNvSpPr/>
          <p:nvPr/>
        </p:nvSpPr>
        <p:spPr>
          <a:xfrm>
            <a:off x="2199132" y="4846320"/>
            <a:ext cx="1970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370832" y="4846320"/>
            <a:ext cx="1449324" cy="457200"/>
          </a:xfrm>
          <a:prstGeom prst="roundRect">
            <a:avLst>
              <a:gd name="adj" fmla="val 50000"/>
            </a:avLst>
          </a:prstGeom>
          <a:solidFill>
            <a:srgbClr val="F2F6FA"/>
          </a:solidFill>
          <a:ln/>
        </p:spPr>
      </p:sp>
      <p:sp>
        <p:nvSpPr>
          <p:cNvPr id="34" name="Text 27"/>
          <p:cNvSpPr/>
          <p:nvPr/>
        </p:nvSpPr>
        <p:spPr>
          <a:xfrm>
            <a:off x="4370832" y="4846320"/>
            <a:ext cx="1449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021324" y="4846320"/>
            <a:ext cx="928116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6" name="Text 29"/>
          <p:cNvSpPr/>
          <p:nvPr/>
        </p:nvSpPr>
        <p:spPr>
          <a:xfrm>
            <a:off x="6021324" y="48463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150608" y="4846320"/>
            <a:ext cx="1014984" cy="457200"/>
          </a:xfrm>
          <a:prstGeom prst="roundRect">
            <a:avLst>
              <a:gd name="adj" fmla="val 50000"/>
            </a:avLst>
          </a:prstGeom>
          <a:solidFill>
            <a:srgbClr val="F2F6FA"/>
          </a:solidFill>
          <a:ln/>
        </p:spPr>
      </p:sp>
      <p:sp>
        <p:nvSpPr>
          <p:cNvPr id="38" name="Text 31"/>
          <p:cNvSpPr/>
          <p:nvPr/>
        </p:nvSpPr>
        <p:spPr>
          <a:xfrm>
            <a:off x="7150608" y="484632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4864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engineered &amp; encoded features   ·   80 / 20 train-test split   ·   16,696 training rows, 4,175 test rows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2026  ·  Kenya FinAccess Financial Inclusion Challenge  ·  Team Tres Amigos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Delivers the Best Weighted F1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526280"/>
          </a:xfrm>
          <a:prstGeom prst="roundRect">
            <a:avLst>
              <a:gd name="adj" fmla="val 161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14300" dist="38100" dir="5400000">
              <a:srgbClr val="1B2B3A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187452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916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8745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23960" y="16276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0.535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909560" y="25420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Score — XGBoost (final, on held-out test data)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909560" y="3246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outperformed every other model on unseen test data: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955280" y="3703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0.5305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0.5172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0.5101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0.5071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2026  ·  Kenya FinAccess Financial Inclusion Challenge  ·  Team Tres Amigos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Factors Most Strongly Predict Financial Decline?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14300" dist="38100" dir="5400000">
              <a:srgbClr val="1B2B3A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22960" y="1783080"/>
          <a:ext cx="6126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6459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8388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flag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83880" y="19751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shock + food insecurity + no emergency funds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27889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83880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index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31181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+ debt + food insecurity + no emergency access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0" y="39319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75438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8388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band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83880" y="42611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monthly income bracket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43800" y="52120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confirm: shocks, food insecurity, and lack of emergency funds are the strongest signals of financial deterioration.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2026  ·  Kenya FinAccess Financial Inclusion Challenge  ·  Team Tres Amigos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1C7293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Priorities to Strengthen Financial Resilience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721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Food &amp; Basic Security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8196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food assistance in high-risk counties before introducing financial products.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3408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Emergency Savings Infrastructure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268833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Low-barrier micro-savings accounts via banks &amp; SACCOs for rural, low-income households.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2095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Shock Protection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25880" y="355701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index insurance and social safety nets in drought- and job-loss-prone counties.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519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0782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Mobile Money Gap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25880" y="44256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eligibility and affordability barriers to mobile money in rural areas.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983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2064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9469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Financial Literacy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325880" y="52943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financial education across all 47 counties, targeting low-income communities.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Weighted F1: </a:t>
            </a:r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0.535</a:t>
            </a:r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Team Tres Amigos · DataSprint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FinAccess Financial Inclusion Challenge</dc:title>
  <dc:subject>PptxGenJS Presentation</dc:subject>
  <dc:creator>Tres Amigos</dc:creator>
  <cp:lastModifiedBy>Tres Amigos</cp:lastModifiedBy>
  <cp:revision>1</cp:revision>
  <dcterms:created xsi:type="dcterms:W3CDTF">2026-06-16T06:54:11Z</dcterms:created>
  <dcterms:modified xsi:type="dcterms:W3CDTF">2026-06-16T06:54:11Z</dcterms:modified>
</cp:coreProperties>
</file>